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gresso" id="{8b9f4acd-01e2-a07a-f659-cd2536ae7a0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erguntas" id="{b69df230-a5e2-ab71-7b22-e23101ac8388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56692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2-1.mp4"/><Relationship Id="rId2" Type="http://schemas.microsoft.com/office/2007/relationships/media" Target="../media/media-12-1.mp4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png"/><Relationship Id="rId4" Type="http://schemas.openxmlformats.org/officeDocument/2006/relationships/image" Target="../media/image-15-4.jp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image" Target="../media/image-17-3.jp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9-1.mp4"/><Relationship Id="rId2" Type="http://schemas.microsoft.com/office/2007/relationships/media" Target="../media/media-19-1.mp4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01</a:t>
            </a:r>
            <a:endParaRPr lang="en-US" sz="950" dirty="0"/>
          </a:p>
        </p:txBody>
      </p:sp>
      <p:sp>
        <p:nvSpPr>
          <p:cNvPr id="3" name="etapa Esboço"/>
          <p:cNvSpPr/>
          <p:nvPr/>
        </p:nvSpPr>
        <p:spPr>
          <a:xfrm>
            <a:off x="2011680" y="274320"/>
            <a:ext cx="832104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5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011680" y="274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ESBOÇO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935224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→</a:t>
            </a:r>
            <a:endParaRPr lang="en-US" sz="1000" dirty="0"/>
          </a:p>
        </p:txBody>
      </p:sp>
      <p:sp>
        <p:nvSpPr>
          <p:cNvPr id="6" name="etapa Trabalho 1"/>
          <p:cNvSpPr/>
          <p:nvPr/>
        </p:nvSpPr>
        <p:spPr>
          <a:xfrm>
            <a:off x="3191256" y="274320"/>
            <a:ext cx="1143000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191256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425696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etapa Trabalho 2"/>
          <p:cNvSpPr/>
          <p:nvPr/>
        </p:nvSpPr>
        <p:spPr>
          <a:xfrm>
            <a:off x="4681728" y="274320"/>
            <a:ext cx="1143000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5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681728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6916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DESENVOLVIMENTO MOBILE · REGISTRO DO PROCESSO</a:t>
            </a:r>
            <a:endParaRPr lang="en-US" sz="105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201168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CaféPositivo, do caderno ao app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Como o grupo pensou, errou, ajustou e decidiu em três versões do mesmo app de pedidos para cafeteria.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esboço em papel  →  Trabalho 1  →  Trabalho 2</a:t>
            </a:r>
            <a:endParaRPr lang="en-US" sz="1300" dirty="0"/>
          </a:p>
        </p:txBody>
      </p:sp>
      <p:sp>
        <p:nvSpPr>
          <p:cNvPr id="15" name="moldura cardápio Olá, Bruno"/>
          <p:cNvSpPr/>
          <p:nvPr/>
        </p:nvSpPr>
        <p:spPr>
          <a:xfrm rot="-360000">
            <a:off x="6281928" y="1161288"/>
            <a:ext cx="2972372" cy="407822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6" name="esboço cardápio Olá, Bruno" descr="Esboço real: cardápio Olá, Bru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360000">
            <a:off x="6355080" y="1234440"/>
            <a:ext cx="2826067" cy="3931920"/>
          </a:xfrm>
          <a:prstGeom prst="rect">
            <a:avLst/>
          </a:prstGeom>
        </p:spPr>
      </p:pic>
      <p:pic>
        <p:nvPicPr>
          <p:cNvPr id="17" name="cardápio do Trabalho 1" descr="cardápio do Trabalho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8366760" y="914400"/>
            <a:ext cx="2088028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pic>
        <p:nvPicPr>
          <p:cNvPr id="18" name="cardápio do Trabalho 2" descr="cardápio do Trabalho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0000">
            <a:off x="9966960" y="1325880"/>
            <a:ext cx="2088028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9" name="Text 14"/>
          <p:cNvSpPr txBox="1"/>
          <p:nvPr/>
        </p:nvSpPr>
        <p:spPr>
          <a:xfrm>
            <a:off x="6583680" y="5532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ESBOÇO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5532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1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0104120" y="5989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2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02</a:t>
            </a:r>
            <a:endParaRPr lang="en-US" sz="950" dirty="0"/>
          </a:p>
        </p:txBody>
      </p:sp>
      <p:sp>
        <p:nvSpPr>
          <p:cNvPr id="3" name="selo Esboço"/>
          <p:cNvSpPr/>
          <p:nvPr/>
        </p:nvSpPr>
        <p:spPr>
          <a:xfrm>
            <a:off x="2011680" y="274320"/>
            <a:ext cx="83210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011680" y="274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ESBOÇO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935224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→</a:t>
            </a:r>
            <a:endParaRPr lang="en-US" sz="1000" dirty="0"/>
          </a:p>
        </p:txBody>
      </p:sp>
      <p:sp>
        <p:nvSpPr>
          <p:cNvPr id="6" name="selo Trabalho 1"/>
          <p:cNvSpPr/>
          <p:nvPr/>
        </p:nvSpPr>
        <p:spPr>
          <a:xfrm>
            <a:off x="3191256" y="274320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91256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425696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selo Trabalho 2"/>
          <p:cNvSpPr/>
          <p:nvPr/>
        </p:nvSpPr>
        <p:spPr>
          <a:xfrm>
            <a:off x="4681728" y="274320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1728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PROGRESSO NUMA OLHADA</a:t>
            </a:r>
            <a:endParaRPr lang="en-US" sz="105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mesma tela de cardápio, em três momentos</a:t>
            </a:r>
            <a:endParaRPr lang="en-US" sz="3000" dirty="0"/>
          </a:p>
        </p:txBody>
      </p:sp>
      <p:sp>
        <p:nvSpPr>
          <p:cNvPr id="13" name="moldura cardápio esboço 1"/>
          <p:cNvSpPr/>
          <p:nvPr/>
        </p:nvSpPr>
        <p:spPr>
          <a:xfrm rot="-120000">
            <a:off x="1040575" y="1755648"/>
            <a:ext cx="2536570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esboço cardápio esboço 1" descr="Esboço real: cardápio esboç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20000">
            <a:off x="1113727" y="1828800"/>
            <a:ext cx="2390266" cy="3017520"/>
          </a:xfrm>
          <a:prstGeom prst="rect">
            <a:avLst/>
          </a:prstGeom>
        </p:spPr>
      </p:pic>
      <p:sp>
        <p:nvSpPr>
          <p:cNvPr id="15" name="ficha Esboço"/>
          <p:cNvSpPr/>
          <p:nvPr/>
        </p:nvSpPr>
        <p:spPr>
          <a:xfrm>
            <a:off x="548640" y="5074920"/>
            <a:ext cx="3520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5166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Esboço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5046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5486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desenhadas no caderno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5733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CARDÁPIO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5715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lista com imagem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5961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645920" y="5943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caneta</a:t>
            </a:r>
            <a:endParaRPr lang="en-US" sz="1150" dirty="0"/>
          </a:p>
        </p:txBody>
      </p:sp>
      <p:sp>
        <p:nvSpPr>
          <p:cNvPr id="23" name="seta"/>
          <p:cNvSpPr/>
          <p:nvPr/>
        </p:nvSpPr>
        <p:spPr>
          <a:xfrm>
            <a:off x="4114800" y="3200400"/>
            <a:ext cx="292608" cy="204826"/>
          </a:xfrm>
          <a:prstGeom prst="rightArrow">
            <a:avLst/>
          </a:prstGeom>
          <a:solidFill>
            <a:schemeClr val="accent1"/>
          </a:solidFill>
          <a:ln/>
        </p:spPr>
      </p:sp>
      <p:pic>
        <p:nvPicPr>
          <p:cNvPr id="24" name="Trabalho 1" descr="Trabalho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229" y="1828800"/>
            <a:ext cx="1406223" cy="30175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25" name="ficha Trabalho 1"/>
          <p:cNvSpPr/>
          <p:nvPr/>
        </p:nvSpPr>
        <p:spPr>
          <a:xfrm>
            <a:off x="4389120" y="5074920"/>
            <a:ext cx="3520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572000" y="5166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1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0" y="55046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TELAS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0" y="5486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5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4572000" y="5733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TROCA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5486400" y="5715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variável + when</a:t>
            </a:r>
            <a:endParaRPr lang="en-US" sz="1150" dirty="0"/>
          </a:p>
        </p:txBody>
      </p:sp>
      <p:sp>
        <p:nvSpPr>
          <p:cNvPr id="31" name="Text 27"/>
          <p:cNvSpPr txBox="1"/>
          <p:nvPr/>
        </p:nvSpPr>
        <p:spPr>
          <a:xfrm>
            <a:off x="4572000" y="5961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5486400" y="5943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roxo do template</a:t>
            </a:r>
            <a:endParaRPr lang="en-US" sz="1150" dirty="0"/>
          </a:p>
        </p:txBody>
      </p:sp>
      <p:sp>
        <p:nvSpPr>
          <p:cNvPr id="33" name="seta"/>
          <p:cNvSpPr/>
          <p:nvPr/>
        </p:nvSpPr>
        <p:spPr>
          <a:xfrm>
            <a:off x="7955280" y="3200400"/>
            <a:ext cx="292608" cy="204826"/>
          </a:xfrm>
          <a:prstGeom prst="rightArrow">
            <a:avLst/>
          </a:prstGeom>
          <a:solidFill>
            <a:schemeClr val="accent1"/>
          </a:solidFill>
          <a:ln/>
        </p:spPr>
      </p:sp>
      <p:pic>
        <p:nvPicPr>
          <p:cNvPr id="34" name="Trabalho 2" descr="Trabalho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709" y="1828800"/>
            <a:ext cx="1406223" cy="30175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35" name="ficha Trabalho 2"/>
          <p:cNvSpPr/>
          <p:nvPr/>
        </p:nvSpPr>
        <p:spPr>
          <a:xfrm>
            <a:off x="8229600" y="5074920"/>
            <a:ext cx="3520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412480" y="5166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2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8412480" y="55046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TELAS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9326880" y="5486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8</a:t>
            </a:r>
            <a:endParaRPr lang="en-US" sz="1150" dirty="0"/>
          </a:p>
        </p:txBody>
      </p:sp>
      <p:sp>
        <p:nvSpPr>
          <p:cNvPr id="39" name="Text 34"/>
          <p:cNvSpPr txBox="1"/>
          <p:nvPr/>
        </p:nvSpPr>
        <p:spPr>
          <a:xfrm>
            <a:off x="8412480" y="5733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TROCA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9326880" y="5715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Navigation Compose</a:t>
            </a:r>
            <a:endParaRPr lang="en-US" sz="1150" dirty="0"/>
          </a:p>
        </p:txBody>
      </p:sp>
      <p:sp>
        <p:nvSpPr>
          <p:cNvPr id="41" name="Text 36"/>
          <p:cNvSpPr txBox="1"/>
          <p:nvPr/>
        </p:nvSpPr>
        <p:spPr>
          <a:xfrm>
            <a:off x="8412480" y="5961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9326880" y="5943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paleta café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03</a:t>
            </a:r>
            <a:endParaRPr lang="en-US" sz="950" dirty="0"/>
          </a:p>
        </p:txBody>
      </p:sp>
      <p:sp>
        <p:nvSpPr>
          <p:cNvPr id="3" name="selo Esboço"/>
          <p:cNvSpPr/>
          <p:nvPr/>
        </p:nvSpPr>
        <p:spPr>
          <a:xfrm>
            <a:off x="2011680" y="274320"/>
            <a:ext cx="83210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011680" y="274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ESBOÇO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935224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→</a:t>
            </a:r>
            <a:endParaRPr lang="en-US" sz="1000" dirty="0"/>
          </a:p>
        </p:txBody>
      </p:sp>
      <p:sp>
        <p:nvSpPr>
          <p:cNvPr id="6" name="etapa Trabalho 1"/>
          <p:cNvSpPr/>
          <p:nvPr/>
        </p:nvSpPr>
        <p:spPr>
          <a:xfrm>
            <a:off x="3191256" y="274320"/>
            <a:ext cx="1143000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191256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425696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etapa Trabalho 2"/>
          <p:cNvSpPr/>
          <p:nvPr/>
        </p:nvSpPr>
        <p:spPr>
          <a:xfrm>
            <a:off x="4681728" y="274320"/>
            <a:ext cx="1143000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5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681728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1 · OS ESBOÇOS DO GRUPO, EM PAPEL</a:t>
            </a:r>
            <a:endParaRPr lang="en-US" sz="105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Antes do código: três folhas de esboço</a:t>
            </a:r>
            <a:endParaRPr lang="en-US" sz="3000" dirty="0"/>
          </a:p>
        </p:txBody>
      </p:sp>
      <p:sp>
        <p:nvSpPr>
          <p:cNvPr id="13" name="moldura Folha 1"/>
          <p:cNvSpPr/>
          <p:nvPr/>
        </p:nvSpPr>
        <p:spPr>
          <a:xfrm rot="-90000">
            <a:off x="475488" y="1892808"/>
            <a:ext cx="3666744" cy="1947009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esboço Folha 1" descr="Esboço real: Folh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90000">
            <a:off x="548640" y="1965960"/>
            <a:ext cx="3520440" cy="1800705"/>
          </a:xfrm>
          <a:prstGeom prst="rect">
            <a:avLst/>
          </a:prstGeom>
        </p:spPr>
      </p:pic>
      <p:sp>
        <p:nvSpPr>
          <p:cNvPr id="15" name="selo Folha 1"/>
          <p:cNvSpPr/>
          <p:nvPr/>
        </p:nvSpPr>
        <p:spPr>
          <a:xfrm>
            <a:off x="548640" y="4086705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408670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 1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452465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Primeiro fluxo: Login → Cardápio → Detalhe com tamanho, leite e açúcar</a:t>
            </a:r>
            <a:endParaRPr lang="en-US" sz="1300" dirty="0"/>
          </a:p>
        </p:txBody>
      </p:sp>
      <p:sp>
        <p:nvSpPr>
          <p:cNvPr id="18" name="moldura Folha 2"/>
          <p:cNvSpPr/>
          <p:nvPr/>
        </p:nvSpPr>
        <p:spPr>
          <a:xfrm rot="72000">
            <a:off x="4315968" y="1892808"/>
            <a:ext cx="3666744" cy="214591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9" name="esboço Folha 2" descr="Esboço real: Folh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">
            <a:off x="4389120" y="1965960"/>
            <a:ext cx="3520440" cy="1999610"/>
          </a:xfrm>
          <a:prstGeom prst="rect">
            <a:avLst/>
          </a:prstGeom>
        </p:spPr>
      </p:pic>
      <p:sp>
        <p:nvSpPr>
          <p:cNvPr id="20" name="selo Folha 2"/>
          <p:cNvSpPr/>
          <p:nvPr/>
        </p:nvSpPr>
        <p:spPr>
          <a:xfrm>
            <a:off x="4389120" y="4285610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389120" y="428561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 2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4389120" y="465137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Refinamento: "Olá, Bruno" com botão Escolher, Perfil riscado e detalhe com entrega</a:t>
            </a:r>
            <a:endParaRPr lang="en-US" sz="1300" dirty="0"/>
          </a:p>
        </p:txBody>
      </p:sp>
      <p:sp>
        <p:nvSpPr>
          <p:cNvPr id="23" name="moldura Folha 3"/>
          <p:cNvSpPr/>
          <p:nvPr/>
        </p:nvSpPr>
        <p:spPr>
          <a:xfrm rot="-60000">
            <a:off x="8156448" y="1892808"/>
            <a:ext cx="3666744" cy="2237445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24" name="esboço Folha 3" descr="Esboço real: Folha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">
            <a:off x="8229600" y="1965960"/>
            <a:ext cx="3520440" cy="2091141"/>
          </a:xfrm>
          <a:prstGeom prst="rect">
            <a:avLst/>
          </a:prstGeom>
        </p:spPr>
      </p:pic>
      <p:sp>
        <p:nvSpPr>
          <p:cNvPr id="25" name="selo Folha 3"/>
          <p:cNvSpPr/>
          <p:nvPr/>
        </p:nvSpPr>
        <p:spPr>
          <a:xfrm>
            <a:off x="8229600" y="4377141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229600" y="4377141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 3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8229600" y="4742901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Telas do T2: Novo produto em grade, Resumo do dia e Confirmação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04</a:t>
            </a:r>
            <a:endParaRPr lang="en-US" sz="950" dirty="0"/>
          </a:p>
        </p:txBody>
      </p:sp>
      <p:sp>
        <p:nvSpPr>
          <p:cNvPr id="3" name="selo Esboço"/>
          <p:cNvSpPr/>
          <p:nvPr/>
        </p:nvSpPr>
        <p:spPr>
          <a:xfrm>
            <a:off x="2011680" y="274320"/>
            <a:ext cx="83210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011680" y="274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ESBOÇO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935224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→</a:t>
            </a:r>
            <a:endParaRPr lang="en-US" sz="1000" dirty="0"/>
          </a:p>
        </p:txBody>
      </p:sp>
      <p:sp>
        <p:nvSpPr>
          <p:cNvPr id="6" name="etapa Trabalho 1"/>
          <p:cNvSpPr/>
          <p:nvPr/>
        </p:nvSpPr>
        <p:spPr>
          <a:xfrm>
            <a:off x="3191256" y="274320"/>
            <a:ext cx="1143000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6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191256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425696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etapa Trabalho 2"/>
          <p:cNvSpPr/>
          <p:nvPr/>
        </p:nvSpPr>
        <p:spPr>
          <a:xfrm>
            <a:off x="4681728" y="274320"/>
            <a:ext cx="1143000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681728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1 · FOLHA 1 DO ESBOÇO</a:t>
            </a:r>
            <a:endParaRPr lang="en-US" sz="105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primeiro fluxo, da direita para a esquerda</a:t>
            </a:r>
            <a:endParaRPr lang="en-US" sz="3000" dirty="0"/>
          </a:p>
        </p:txBody>
      </p:sp>
      <p:sp>
        <p:nvSpPr>
          <p:cNvPr id="13" name="moldura folha 1 inteira"/>
          <p:cNvSpPr/>
          <p:nvPr/>
        </p:nvSpPr>
        <p:spPr>
          <a:xfrm rot="-60000">
            <a:off x="612648" y="1847088"/>
            <a:ext cx="6850116" cy="357530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esboço folha 1 inteira" descr="Esboço real: folha 1 intei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60000">
            <a:off x="685800" y="1920240"/>
            <a:ext cx="6703812" cy="3429000"/>
          </a:xfrm>
          <a:prstGeom prst="rect">
            <a:avLst/>
          </a:prstGeom>
        </p:spPr>
      </p:pic>
      <p:sp>
        <p:nvSpPr>
          <p:cNvPr id="15" name="nota Login"/>
          <p:cNvSpPr/>
          <p:nvPr/>
        </p:nvSpPr>
        <p:spPr>
          <a:xfrm>
            <a:off x="8001000" y="1828800"/>
            <a:ext cx="3611880" cy="1078992"/>
          </a:xfrm>
          <a:prstGeom prst="roundRect">
            <a:avLst>
              <a:gd name="adj" fmla="val 847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183880" y="1938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2240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Só o nome e "Avançar". Não pedimos senha nem cadastro, e isso foi até o app final.</a:t>
            </a:r>
            <a:endParaRPr lang="en-US" sz="1150" dirty="0"/>
          </a:p>
        </p:txBody>
      </p:sp>
      <p:sp>
        <p:nvSpPr>
          <p:cNvPr id="18" name="nota Cardápio"/>
          <p:cNvSpPr/>
          <p:nvPr/>
        </p:nvSpPr>
        <p:spPr>
          <a:xfrm>
            <a:off x="8001000" y="3035808"/>
            <a:ext cx="3611880" cy="1078992"/>
          </a:xfrm>
          <a:prstGeom prst="roundRect">
            <a:avLst>
              <a:gd name="adj" fmla="val 8475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183880" y="3145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Cardápio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34472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Lista com espaço para imagem e preço. A seta para trás já aparecia no canto.</a:t>
            </a:r>
            <a:endParaRPr lang="en-US" sz="1150" dirty="0"/>
          </a:p>
        </p:txBody>
      </p:sp>
      <p:sp>
        <p:nvSpPr>
          <p:cNvPr id="21" name="nota Detalhe"/>
          <p:cNvSpPr/>
          <p:nvPr/>
        </p:nvSpPr>
        <p:spPr>
          <a:xfrm>
            <a:off x="8001000" y="4242816"/>
            <a:ext cx="3611880" cy="1078992"/>
          </a:xfrm>
          <a:prstGeom prst="roundRect">
            <a:avLst>
              <a:gd name="adj" fmla="val 8475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183880" y="4352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183880" y="465429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Tamanho, tipo de leite e açúcar em listas suspensas, e o botão Adicionar.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5715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As setas na folha apontam para a esquerda: o fluxo começa no Login, à direita, passa pelo Cardápio e termina no Detalhe.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05</a:t>
            </a:r>
            <a:endParaRPr lang="en-US" sz="950" dirty="0"/>
          </a:p>
        </p:txBody>
      </p:sp>
      <p:sp>
        <p:nvSpPr>
          <p:cNvPr id="3" name="selo Esboço"/>
          <p:cNvSpPr/>
          <p:nvPr/>
        </p:nvSpPr>
        <p:spPr>
          <a:xfrm>
            <a:off x="2011680" y="274320"/>
            <a:ext cx="83210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011680" y="274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ESBOÇO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935224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→</a:t>
            </a:r>
            <a:endParaRPr lang="en-US" sz="1000" dirty="0"/>
          </a:p>
        </p:txBody>
      </p:sp>
      <p:sp>
        <p:nvSpPr>
          <p:cNvPr id="6" name="etapa Trabalho 1"/>
          <p:cNvSpPr/>
          <p:nvPr/>
        </p:nvSpPr>
        <p:spPr>
          <a:xfrm>
            <a:off x="3191256" y="274320"/>
            <a:ext cx="1143000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191256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425696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etapa Trabalho 2"/>
          <p:cNvSpPr/>
          <p:nvPr/>
        </p:nvSpPr>
        <p:spPr>
          <a:xfrm>
            <a:off x="4681728" y="274320"/>
            <a:ext cx="1143000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5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681728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1 · FOLHA 2 DO ESBOÇO</a:t>
            </a:r>
            <a:endParaRPr lang="en-US" sz="105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Refinamos o cardápio e riscamos o Perfil</a:t>
            </a:r>
            <a:endParaRPr lang="en-US" sz="3000" dirty="0"/>
          </a:p>
        </p:txBody>
      </p:sp>
      <p:sp>
        <p:nvSpPr>
          <p:cNvPr id="13" name="moldura Cardápio"/>
          <p:cNvSpPr/>
          <p:nvPr/>
        </p:nvSpPr>
        <p:spPr>
          <a:xfrm rot="-120000">
            <a:off x="1141286" y="1709928"/>
            <a:ext cx="2380869" cy="325526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esboço Cardápio" descr="Esboço real: Cardáp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20000">
            <a:off x="1214438" y="1783080"/>
            <a:ext cx="2234565" cy="3108960"/>
          </a:xfrm>
          <a:prstGeom prst="rect">
            <a:avLst/>
          </a:prstGeom>
        </p:spPr>
      </p:pic>
      <p:sp>
        <p:nvSpPr>
          <p:cNvPr id="15" name="selo virou código"/>
          <p:cNvSpPr/>
          <p:nvPr/>
        </p:nvSpPr>
        <p:spPr>
          <a:xfrm>
            <a:off x="685800" y="5166360"/>
            <a:ext cx="128016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5166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VIROU CÓDIGO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2103120" y="5148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Cardápio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5532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Saiu a imagem, entrou "Olá, Bruno" e o botão Escolher em cada item. Foi exatamente assim no Trabalho 1.</a:t>
            </a:r>
            <a:endParaRPr lang="en-US" sz="1200" dirty="0"/>
          </a:p>
        </p:txBody>
      </p:sp>
      <p:sp>
        <p:nvSpPr>
          <p:cNvPr id="19" name="moldura Perfil"/>
          <p:cNvSpPr/>
          <p:nvPr/>
        </p:nvSpPr>
        <p:spPr>
          <a:xfrm rot="90000">
            <a:off x="4797865" y="1709928"/>
            <a:ext cx="2748670" cy="325526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20" name="esboço Perfil" descr="Esboço real: Perf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">
            <a:off x="4871017" y="1783080"/>
            <a:ext cx="2602366" cy="3108960"/>
          </a:xfrm>
          <a:prstGeom prst="rect">
            <a:avLst/>
          </a:prstGeom>
        </p:spPr>
      </p:pic>
      <p:sp>
        <p:nvSpPr>
          <p:cNvPr id="21" name="selo riscado"/>
          <p:cNvSpPr/>
          <p:nvPr/>
        </p:nvSpPr>
        <p:spPr>
          <a:xfrm>
            <a:off x="4526280" y="5166360"/>
            <a:ext cx="128016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526280" y="5166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RISCADO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5943600" y="5148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4526280" y="5532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Foto, nome e Sair. Riscamos: só repetia o nome do login. No T2 virou o Resumo do dia.</a:t>
            </a:r>
            <a:endParaRPr lang="en-US" sz="1200" dirty="0"/>
          </a:p>
        </p:txBody>
      </p:sp>
      <p:sp>
        <p:nvSpPr>
          <p:cNvPr id="25" name="moldura Detalhe"/>
          <p:cNvSpPr/>
          <p:nvPr/>
        </p:nvSpPr>
        <p:spPr>
          <a:xfrm rot="-60000">
            <a:off x="8585093" y="1709928"/>
            <a:ext cx="2855174" cy="325526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26" name="esboço Detalhe" descr="Esboço real: Detalh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">
            <a:off x="8658245" y="1783080"/>
            <a:ext cx="2708870" cy="3108960"/>
          </a:xfrm>
          <a:prstGeom prst="rect">
            <a:avLst/>
          </a:prstGeom>
        </p:spPr>
      </p:pic>
      <p:sp>
        <p:nvSpPr>
          <p:cNvPr id="27" name="selo mudou"/>
          <p:cNvSpPr/>
          <p:nvPr/>
        </p:nvSpPr>
        <p:spPr>
          <a:xfrm>
            <a:off x="8366760" y="5166360"/>
            <a:ext cx="12801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366760" y="5166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MUDOU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9784080" y="5148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Detalhe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8366760" y="5532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Testamos leite, açúcar e um campo de entrega. A entrega não entrou: o pedido é retirado no balcão.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06</a:t>
            </a:r>
            <a:endParaRPr lang="en-US" sz="950" dirty="0"/>
          </a:p>
        </p:txBody>
      </p:sp>
      <p:sp>
        <p:nvSpPr>
          <p:cNvPr id="3" name="etapa Esboço"/>
          <p:cNvSpPr/>
          <p:nvPr/>
        </p:nvSpPr>
        <p:spPr>
          <a:xfrm>
            <a:off x="2011680" y="274320"/>
            <a:ext cx="832104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0" y="274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ESBOÇO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935224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→</a:t>
            </a:r>
            <a:endParaRPr lang="en-US" sz="1000" dirty="0"/>
          </a:p>
        </p:txBody>
      </p:sp>
      <p:sp>
        <p:nvSpPr>
          <p:cNvPr id="6" name="selo Trabalho 1"/>
          <p:cNvSpPr/>
          <p:nvPr/>
        </p:nvSpPr>
        <p:spPr>
          <a:xfrm>
            <a:off x="3191256" y="274320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91256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425696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etapa Trabalho 2"/>
          <p:cNvSpPr/>
          <p:nvPr/>
        </p:nvSpPr>
        <p:spPr>
          <a:xfrm>
            <a:off x="4681728" y="274320"/>
            <a:ext cx="1143000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5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681728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2 · TRABALHO 1 (PROJETO MOBILE CAFÉ)</a:t>
            </a:r>
            <a:endParaRPr lang="en-US" sz="105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Primeira versão no código: 5 telas, um fluxo só</a:t>
            </a:r>
            <a:endParaRPr lang="en-US" sz="3000" dirty="0"/>
          </a:p>
        </p:txBody>
      </p:sp>
      <p:pic>
        <p:nvPicPr>
          <p:cNvPr id="13" name="T1 login" descr="T1 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83080"/>
            <a:ext cx="1704513" cy="36576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4" name="Text 11"/>
          <p:cNvSpPr txBox="1"/>
          <p:nvPr/>
        </p:nvSpPr>
        <p:spPr>
          <a:xfrm>
            <a:off x="777240" y="5486400"/>
            <a:ext cx="22531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endParaRPr lang="en-US" sz="950" dirty="0"/>
          </a:p>
        </p:txBody>
      </p:sp>
      <p:pic>
        <p:nvPicPr>
          <p:cNvPr id="15" name="T1 cardapio" descr="T1 cardap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783080"/>
            <a:ext cx="1704513" cy="36576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6" name="Text 12"/>
          <p:cNvSpPr txBox="1"/>
          <p:nvPr/>
        </p:nvSpPr>
        <p:spPr>
          <a:xfrm>
            <a:off x="2834640" y="5486400"/>
            <a:ext cx="22531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CARDÁPIO</a:t>
            </a:r>
            <a:endParaRPr lang="en-US" sz="950" dirty="0"/>
          </a:p>
        </p:txBody>
      </p:sp>
      <p:pic>
        <p:nvPicPr>
          <p:cNvPr id="17" name="T1 detalhe" descr="T1 detalh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783080"/>
            <a:ext cx="1704513" cy="36576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8" name="Text 13"/>
          <p:cNvSpPr txBox="1"/>
          <p:nvPr/>
        </p:nvSpPr>
        <p:spPr>
          <a:xfrm>
            <a:off x="4892040" y="5486400"/>
            <a:ext cx="22531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DETALHE</a:t>
            </a:r>
            <a:endParaRPr lang="en-US" sz="950" dirty="0"/>
          </a:p>
        </p:txBody>
      </p:sp>
      <p:pic>
        <p:nvPicPr>
          <p:cNvPr id="19" name="T1 carrinho" descr="T1 carrinh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783080"/>
            <a:ext cx="1704513" cy="36576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20" name="Text 14"/>
          <p:cNvSpPr txBox="1"/>
          <p:nvPr/>
        </p:nvSpPr>
        <p:spPr>
          <a:xfrm>
            <a:off x="6949440" y="5486400"/>
            <a:ext cx="22531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CARRINHO</a:t>
            </a:r>
            <a:endParaRPr lang="en-US" sz="950" dirty="0"/>
          </a:p>
        </p:txBody>
      </p:sp>
      <p:pic>
        <p:nvPicPr>
          <p:cNvPr id="21" name="T1 confirmacao" descr="T1 confirmaca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1783080"/>
            <a:ext cx="1704513" cy="36576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22" name="Text 15"/>
          <p:cNvSpPr txBox="1"/>
          <p:nvPr/>
        </p:nvSpPr>
        <p:spPr>
          <a:xfrm>
            <a:off x="9006840" y="5486400"/>
            <a:ext cx="22531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CONFIRMAÇÃO</a:t>
            </a:r>
            <a:endParaRPr lang="en-US" sz="950" dirty="0"/>
          </a:p>
        </p:txBody>
      </p:sp>
      <p:sp>
        <p:nvSpPr>
          <p:cNvPr id="23" name="selo funcionava do login à confirmação"/>
          <p:cNvSpPr/>
          <p:nvPr/>
        </p:nvSpPr>
        <p:spPr>
          <a:xfrm>
            <a:off x="1051560" y="5897880"/>
            <a:ext cx="2884932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1051560" y="5897880"/>
            <a:ext cx="2884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FUNCIONAVA DO LOGIN À CONFIRMAÇÃO</a:t>
            </a:r>
            <a:endParaRPr lang="en-US" sz="950" dirty="0"/>
          </a:p>
        </p:txBody>
      </p:sp>
      <p:sp>
        <p:nvSpPr>
          <p:cNvPr id="25" name="selo tela trocada com when"/>
          <p:cNvSpPr/>
          <p:nvPr/>
        </p:nvSpPr>
        <p:spPr>
          <a:xfrm>
            <a:off x="4073652" y="5897880"/>
            <a:ext cx="195224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4073652" y="5897880"/>
            <a:ext cx="1952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TROCADA COM WHEN</a:t>
            </a:r>
            <a:endParaRPr lang="en-US" sz="950" dirty="0"/>
          </a:p>
        </p:txBody>
      </p:sp>
      <p:sp>
        <p:nvSpPr>
          <p:cNvPr id="27" name="selo lista de produtos fixa"/>
          <p:cNvSpPr/>
          <p:nvPr/>
        </p:nvSpPr>
        <p:spPr>
          <a:xfrm>
            <a:off x="6163056" y="5897880"/>
            <a:ext cx="202996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6163056" y="589788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DE PRODUTOS FIXA</a:t>
            </a:r>
            <a:endParaRPr lang="en-US" sz="950" dirty="0"/>
          </a:p>
        </p:txBody>
      </p:sp>
      <p:sp>
        <p:nvSpPr>
          <p:cNvPr id="29" name="selo voltar do celular fechava o app"/>
          <p:cNvSpPr/>
          <p:nvPr/>
        </p:nvSpPr>
        <p:spPr>
          <a:xfrm>
            <a:off x="8330184" y="5897880"/>
            <a:ext cx="2729484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330184" y="5897880"/>
            <a:ext cx="2729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VOLTAR DO CELULAR FECHAVA O APP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07</a:t>
            </a:r>
            <a:endParaRPr lang="en-US" sz="950" dirty="0"/>
          </a:p>
        </p:txBody>
      </p:sp>
      <p:sp>
        <p:nvSpPr>
          <p:cNvPr id="3" name="etapa Esboço"/>
          <p:cNvSpPr/>
          <p:nvPr/>
        </p:nvSpPr>
        <p:spPr>
          <a:xfrm>
            <a:off x="2011680" y="274320"/>
            <a:ext cx="832104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0" y="274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ESBOÇO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935224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→</a:t>
            </a:r>
            <a:endParaRPr lang="en-US" sz="1000" dirty="0"/>
          </a:p>
        </p:txBody>
      </p:sp>
      <p:sp>
        <p:nvSpPr>
          <p:cNvPr id="6" name="etapa Trabalho 1"/>
          <p:cNvSpPr/>
          <p:nvPr/>
        </p:nvSpPr>
        <p:spPr>
          <a:xfrm>
            <a:off x="3191256" y="274320"/>
            <a:ext cx="1143000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91256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425696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selo Trabalho 2"/>
          <p:cNvSpPr/>
          <p:nvPr/>
        </p:nvSpPr>
        <p:spPr>
          <a:xfrm>
            <a:off x="4681728" y="274320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1728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3 · TRABALHO 2 (MAF) · FOLHA 3 DO ESBOÇO</a:t>
            </a:r>
            <a:endParaRPr lang="en-US" sz="105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Para o Trabalho 2, voltamos ao papel</a:t>
            </a:r>
            <a:endParaRPr lang="en-US" sz="3000" dirty="0"/>
          </a:p>
        </p:txBody>
      </p:sp>
      <p:sp>
        <p:nvSpPr>
          <p:cNvPr id="13" name="moldura folha 3 inteira"/>
          <p:cNvSpPr/>
          <p:nvPr/>
        </p:nvSpPr>
        <p:spPr>
          <a:xfrm rot="-72000">
            <a:off x="612648" y="1801368"/>
            <a:ext cx="6457819" cy="389534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esboço folha 3 inteira" descr="Esboço real: folha 3 intei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72000">
            <a:off x="685800" y="1874520"/>
            <a:ext cx="6311515" cy="37490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498080" y="18288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T2 pedia navegação de verdade e duas listas em que desse para adicionar e remover itens. Desenhamos só as telas novas:</a:t>
            </a:r>
            <a:endParaRPr lang="en-US" sz="1400" dirty="0"/>
          </a:p>
        </p:txBody>
      </p:sp>
      <p:sp>
        <p:nvSpPr>
          <p:cNvPr id="16" name="nota Novo produto"/>
          <p:cNvSpPr/>
          <p:nvPr/>
        </p:nvSpPr>
        <p:spPr>
          <a:xfrm>
            <a:off x="7498080" y="2880360"/>
            <a:ext cx="41148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80960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produto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formulário com nome, descrição e preço, e os produtos em grade de 3</a:t>
            </a:r>
            <a:endParaRPr lang="en-US" sz="1200" dirty="0"/>
          </a:p>
        </p:txBody>
      </p:sp>
      <p:sp>
        <p:nvSpPr>
          <p:cNvPr id="19" name="nota Resumo do dia"/>
          <p:cNvSpPr/>
          <p:nvPr/>
        </p:nvSpPr>
        <p:spPr>
          <a:xfrm>
            <a:off x="7498080" y="3904488"/>
            <a:ext cx="41148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680960" y="4014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 dia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680960" y="4315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pedidos, entregues e o mais vendido, no lugar do Perfil riscado</a:t>
            </a:r>
            <a:endParaRPr lang="en-US" sz="1200" dirty="0"/>
          </a:p>
        </p:txBody>
      </p:sp>
      <p:sp>
        <p:nvSpPr>
          <p:cNvPr id="22" name="nota Confirmação"/>
          <p:cNvSpPr/>
          <p:nvPr/>
        </p:nvSpPr>
        <p:spPr>
          <a:xfrm>
            <a:off x="7498080" y="4928616"/>
            <a:ext cx="41148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80960" y="5038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Confirmação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53400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número do pedido e "Obrigado, Bruno"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08</a:t>
            </a:r>
            <a:endParaRPr lang="en-US" sz="950" dirty="0"/>
          </a:p>
        </p:txBody>
      </p:sp>
      <p:sp>
        <p:nvSpPr>
          <p:cNvPr id="3" name="etapa Esboço"/>
          <p:cNvSpPr/>
          <p:nvPr/>
        </p:nvSpPr>
        <p:spPr>
          <a:xfrm>
            <a:off x="2011680" y="274320"/>
            <a:ext cx="832104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0" y="274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ESBOÇO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935224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→</a:t>
            </a:r>
            <a:endParaRPr lang="en-US" sz="1000" dirty="0"/>
          </a:p>
        </p:txBody>
      </p:sp>
      <p:sp>
        <p:nvSpPr>
          <p:cNvPr id="6" name="etapa Trabalho 1"/>
          <p:cNvSpPr/>
          <p:nvPr/>
        </p:nvSpPr>
        <p:spPr>
          <a:xfrm>
            <a:off x="3191256" y="274320"/>
            <a:ext cx="1143000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91256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425696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selo Trabalho 2"/>
          <p:cNvSpPr/>
          <p:nvPr/>
        </p:nvSpPr>
        <p:spPr>
          <a:xfrm>
            <a:off x="4681728" y="274320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1728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3 · ONDE CHEGAMOS</a:t>
            </a:r>
            <a:endParaRPr lang="en-US" sz="105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8 telas, duas listas e barra de navegação</a:t>
            </a:r>
            <a:endParaRPr lang="en-US" sz="3000" dirty="0"/>
          </a:p>
        </p:txBody>
      </p:sp>
      <p:pic>
        <p:nvPicPr>
          <p:cNvPr id="13" name="Login claro" descr="Login cla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980095" cy="2103120"/>
          </a:xfrm>
          <a:prstGeom prst="rect">
            <a:avLst/>
          </a:prstGeom>
        </p:spPr>
      </p:pic>
      <p:pic>
        <p:nvPicPr>
          <p:cNvPr id="14" name="Login escuro" descr="Login escu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77640"/>
            <a:ext cx="980095" cy="21031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6144768"/>
            <a:ext cx="116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endParaRPr lang="en-US" sz="850" dirty="0"/>
          </a:p>
        </p:txBody>
      </p:sp>
      <p:pic>
        <p:nvPicPr>
          <p:cNvPr id="16" name="Cardápio claro" descr="Cardápio cla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158" y="1783080"/>
            <a:ext cx="980095" cy="2103120"/>
          </a:xfrm>
          <a:prstGeom prst="rect">
            <a:avLst/>
          </a:prstGeom>
        </p:spPr>
      </p:pic>
      <p:pic>
        <p:nvPicPr>
          <p:cNvPr id="17" name="Cardápio escuro" descr="Cardápio escur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158" y="3977640"/>
            <a:ext cx="980095" cy="21031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17718" y="6144768"/>
            <a:ext cx="116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CARDÁPIO</a:t>
            </a:r>
            <a:endParaRPr lang="en-US" sz="850" dirty="0"/>
          </a:p>
        </p:txBody>
      </p:sp>
      <p:pic>
        <p:nvPicPr>
          <p:cNvPr id="19" name="Grade claro" descr="Grade clar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9676" y="1783080"/>
            <a:ext cx="980095" cy="2103120"/>
          </a:xfrm>
          <a:prstGeom prst="rect">
            <a:avLst/>
          </a:prstGeom>
        </p:spPr>
      </p:pic>
      <p:pic>
        <p:nvPicPr>
          <p:cNvPr id="20" name="Grade escuro" descr="Grade escur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9676" y="3977640"/>
            <a:ext cx="980095" cy="21031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978236" y="6144768"/>
            <a:ext cx="116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endParaRPr lang="en-US" sz="850" dirty="0"/>
          </a:p>
        </p:txBody>
      </p:sp>
      <p:pic>
        <p:nvPicPr>
          <p:cNvPr id="22" name="Detalhe claro" descr="Detalhe clar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0194" y="1783080"/>
            <a:ext cx="980095" cy="2103120"/>
          </a:xfrm>
          <a:prstGeom prst="rect">
            <a:avLst/>
          </a:prstGeom>
        </p:spPr>
      </p:pic>
      <p:pic>
        <p:nvPicPr>
          <p:cNvPr id="23" name="Detalhe escuro" descr="Detalhe escur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194" y="3977640"/>
            <a:ext cx="980095" cy="210312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4238754" y="6144768"/>
            <a:ext cx="116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DETALHE</a:t>
            </a:r>
            <a:endParaRPr lang="en-US" sz="850" dirty="0"/>
          </a:p>
        </p:txBody>
      </p:sp>
      <p:pic>
        <p:nvPicPr>
          <p:cNvPr id="25" name="Carrinho claro" descr="Carrinho clar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0713" y="1783080"/>
            <a:ext cx="980095" cy="2103120"/>
          </a:xfrm>
          <a:prstGeom prst="rect">
            <a:avLst/>
          </a:prstGeom>
        </p:spPr>
      </p:pic>
      <p:pic>
        <p:nvPicPr>
          <p:cNvPr id="26" name="Carrinho escuro" descr="Carrinho escur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0713" y="3977640"/>
            <a:ext cx="980095" cy="210312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5499273" y="6144768"/>
            <a:ext cx="116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CARRINHO</a:t>
            </a:r>
            <a:endParaRPr lang="en-US" sz="850" dirty="0"/>
          </a:p>
        </p:txBody>
      </p:sp>
      <p:pic>
        <p:nvPicPr>
          <p:cNvPr id="28" name="Confirmação claro" descr="Confirmação clar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1231" y="1783080"/>
            <a:ext cx="980095" cy="2103120"/>
          </a:xfrm>
          <a:prstGeom prst="rect">
            <a:avLst/>
          </a:prstGeom>
        </p:spPr>
      </p:pic>
      <p:pic>
        <p:nvPicPr>
          <p:cNvPr id="29" name="Confirmação escuro" descr="Confirmação escuro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1231" y="3977640"/>
            <a:ext cx="980095" cy="2103120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6759791" y="6144768"/>
            <a:ext cx="116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CONFIRMAÇÃO</a:t>
            </a:r>
            <a:endParaRPr lang="en-US" sz="850" dirty="0"/>
          </a:p>
        </p:txBody>
      </p:sp>
      <p:pic>
        <p:nvPicPr>
          <p:cNvPr id="31" name="Pedidos claro" descr="Pedidos claro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1749" y="1783080"/>
            <a:ext cx="980095" cy="2103120"/>
          </a:xfrm>
          <a:prstGeom prst="rect">
            <a:avLst/>
          </a:prstGeom>
        </p:spPr>
      </p:pic>
      <p:pic>
        <p:nvPicPr>
          <p:cNvPr id="32" name="Pedidos escuro" descr="Pedidos escuro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11749" y="3977640"/>
            <a:ext cx="980095" cy="2103120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8020309" y="6144768"/>
            <a:ext cx="116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endParaRPr lang="en-US" sz="850" dirty="0"/>
          </a:p>
        </p:txBody>
      </p:sp>
      <p:pic>
        <p:nvPicPr>
          <p:cNvPr id="34" name="Pedido claro" descr="Pedido claro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72267" y="1783080"/>
            <a:ext cx="980095" cy="2103120"/>
          </a:xfrm>
          <a:prstGeom prst="rect">
            <a:avLst/>
          </a:prstGeom>
        </p:spPr>
      </p:pic>
      <p:pic>
        <p:nvPicPr>
          <p:cNvPr id="35" name="Pedido escuro" descr="Pedido escuro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2267" y="3977640"/>
            <a:ext cx="980095" cy="2103120"/>
          </a:xfrm>
          <a:prstGeom prst="rect">
            <a:avLst/>
          </a:prstGeom>
        </p:spPr>
      </p:pic>
      <p:sp>
        <p:nvSpPr>
          <p:cNvPr id="36" name="Text 18"/>
          <p:cNvSpPr txBox="1"/>
          <p:nvPr/>
        </p:nvSpPr>
        <p:spPr>
          <a:xfrm>
            <a:off x="9280827" y="6144768"/>
            <a:ext cx="116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endParaRPr lang="en-US" sz="850" dirty="0"/>
          </a:p>
        </p:txBody>
      </p:sp>
      <p:pic>
        <p:nvPicPr>
          <p:cNvPr id="37" name="Resumo claro" descr="Resumo claro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32785" y="1783080"/>
            <a:ext cx="980095" cy="2103120"/>
          </a:xfrm>
          <a:prstGeom prst="rect">
            <a:avLst/>
          </a:prstGeom>
        </p:spPr>
      </p:pic>
      <p:pic>
        <p:nvPicPr>
          <p:cNvPr id="38" name="Resumo escuro" descr="Resumo escuro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32785" y="3977640"/>
            <a:ext cx="980095" cy="2103120"/>
          </a:xfrm>
          <a:prstGeom prst="rect">
            <a:avLst/>
          </a:prstGeom>
        </p:spPr>
      </p:pic>
      <p:sp>
        <p:nvSpPr>
          <p:cNvPr id="39" name="Text 19"/>
          <p:cNvSpPr txBox="1"/>
          <p:nvPr/>
        </p:nvSpPr>
        <p:spPr>
          <a:xfrm>
            <a:off x="10541345" y="6144768"/>
            <a:ext cx="116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09</a:t>
            </a:r>
            <a:endParaRPr lang="en-US" sz="950" dirty="0"/>
          </a:p>
        </p:txBody>
      </p:sp>
      <p:sp>
        <p:nvSpPr>
          <p:cNvPr id="3" name="selo Perguntas do registro"/>
          <p:cNvSpPr/>
          <p:nvPr/>
        </p:nvSpPr>
        <p:spPr>
          <a:xfrm>
            <a:off x="9642348" y="274320"/>
            <a:ext cx="1997964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42348" y="274320"/>
            <a:ext cx="199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 DO REGISTRO</a:t>
            </a:r>
            <a:endParaRPr lang="en-US" sz="950" dirty="0"/>
          </a:p>
        </p:txBody>
      </p:sp>
      <p:sp>
        <p:nvSpPr>
          <p:cNvPr id="5" name="anel de xícara"/>
          <p:cNvSpPr/>
          <p:nvPr/>
        </p:nvSpPr>
        <p:spPr>
          <a:xfrm>
            <a:off x="8778240" y="3566160"/>
            <a:ext cx="2926080" cy="2926080"/>
          </a:xfrm>
          <a:prstGeom prst="ellipse">
            <a:avLst/>
          </a:prstGeom>
          <a:ln w="19050">
            <a:solidFill>
              <a:srgbClr val="3A28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OLHANDO PARA TRÁS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perguntas sobre o caminho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4015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Que decisão o grupo tomou que valeu a pena? Por quê?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69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1788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Que erro ou trava tivemos? Como resolvemos (ou não)?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46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95604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O que mudou entre o mockup original e a tela programada?</a:t>
            </a:r>
            <a:endParaRPr lang="en-US" sz="2100" dirty="0"/>
          </a:p>
        </p:txBody>
      </p:sp>
      <p:sp>
        <p:nvSpPr>
          <p:cNvPr id="14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10</a:t>
            </a:r>
            <a:endParaRPr lang="en-US" sz="950" dirty="0"/>
          </a:p>
        </p:txBody>
      </p:sp>
      <p:sp>
        <p:nvSpPr>
          <p:cNvPr id="3" name="selo Pergunta 1 de 3 · decisão"/>
          <p:cNvSpPr/>
          <p:nvPr/>
        </p:nvSpPr>
        <p:spPr>
          <a:xfrm>
            <a:off x="9331452" y="274320"/>
            <a:ext cx="230886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31452" y="27432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1 DE 3 · DECISÃO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DECISÃO VALEU A PENA?</a:t>
            </a:r>
            <a:endParaRPr lang="en-US" sz="105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Trocar o Perfil pelo Resumo do dia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O Perfil do esboço só repetia o nome digitado no login. Riscamos ainda no papel.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No lugar, criamos a lista de Pedidos (cliente, itens, status) e o Resumo do dia, que cruza produtos e pedidos.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O app passou a responder perguntas reais da cafeteria: quanto faturou, quantos pedidos foram entregues, o que mais vendeu.</a:t>
            </a:r>
            <a:endParaRPr lang="en-US" sz="1350" dirty="0"/>
          </a:p>
        </p:txBody>
      </p:sp>
      <p:sp>
        <p:nvSpPr>
          <p:cNvPr id="9" name="moldura Perfil riscado"/>
          <p:cNvSpPr/>
          <p:nvPr/>
        </p:nvSpPr>
        <p:spPr>
          <a:xfrm rot="-120000">
            <a:off x="4590288" y="1847088"/>
            <a:ext cx="2480779" cy="293522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0" name="esboço Perfil riscado" descr="Esboço real: Perfil risc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20000">
            <a:off x="4663440" y="1920240"/>
            <a:ext cx="2334475" cy="27889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480560" y="4937760"/>
            <a:ext cx="27002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 RISCADO</a:t>
            </a:r>
            <a:endParaRPr lang="en-US" sz="950" dirty="0"/>
          </a:p>
        </p:txBody>
      </p:sp>
      <p:sp>
        <p:nvSpPr>
          <p:cNvPr id="12" name="seta"/>
          <p:cNvSpPr/>
          <p:nvPr/>
        </p:nvSpPr>
        <p:spPr>
          <a:xfrm>
            <a:off x="7107643" y="3154680"/>
            <a:ext cx="274320" cy="19202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moldura Resumo no esboço"/>
          <p:cNvSpPr/>
          <p:nvPr/>
        </p:nvSpPr>
        <p:spPr>
          <a:xfrm rot="90000">
            <a:off x="7427683" y="1847088"/>
            <a:ext cx="2556550" cy="293522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esboço Resumo no esboço" descr="Esboço real: Resumo no esboç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">
            <a:off x="7500835" y="1920240"/>
            <a:ext cx="2410246" cy="27889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7955" y="4937760"/>
            <a:ext cx="27760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RESUMO NO ESBOÇO</a:t>
            </a:r>
            <a:endParaRPr lang="en-US" sz="950" dirty="0"/>
          </a:p>
        </p:txBody>
      </p:sp>
      <p:sp>
        <p:nvSpPr>
          <p:cNvPr id="16" name="seta"/>
          <p:cNvSpPr/>
          <p:nvPr/>
        </p:nvSpPr>
        <p:spPr>
          <a:xfrm>
            <a:off x="10020809" y="3154680"/>
            <a:ext cx="274320" cy="192024"/>
          </a:xfrm>
          <a:prstGeom prst="rightArrow">
            <a:avLst/>
          </a:prstGeom>
          <a:solidFill>
            <a:schemeClr val="accent1"/>
          </a:solidFill>
          <a:ln/>
        </p:spPr>
      </p:sp>
      <p:pic>
        <p:nvPicPr>
          <p:cNvPr id="17" name="Resumo no app" descr="Resumo no ap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1" y="1920240"/>
            <a:ext cx="1299691" cy="27889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8" name="Text 13"/>
          <p:cNvSpPr txBox="1"/>
          <p:nvPr/>
        </p:nvSpPr>
        <p:spPr>
          <a:xfrm>
            <a:off x="10231121" y="4937760"/>
            <a:ext cx="16654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RESUMO NO APP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4663440" y="5486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3"/>
                </a:solidFill>
              </a:rPr>
              <a:t>Custo: o código da tela de Perfil que já estava começado foi descartado.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11</a:t>
            </a:r>
            <a:endParaRPr lang="en-US" sz="950" dirty="0"/>
          </a:p>
        </p:txBody>
      </p:sp>
      <p:sp>
        <p:nvSpPr>
          <p:cNvPr id="3" name="selo Pergunta 1 de 3 · decisão"/>
          <p:cNvSpPr/>
          <p:nvPr/>
        </p:nvSpPr>
        <p:spPr>
          <a:xfrm>
            <a:off x="9331452" y="274320"/>
            <a:ext cx="23088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31452" y="27432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1 DE 3 · DECISÃO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A DECISÃO TÉCNICA QUE MAIS AJUDOU</a:t>
            </a:r>
            <a:endParaRPr lang="en-US" sz="105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Só o id do item vai na rota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primeira ideia era mandar o produto inteiro para a tela de detalhe, mas uma rota é só texto. Mandando o id, a tela busca o item direto na lista e sempre mostra o dado atualizado, inclusive as vendas que mudam quando entra um pedido.</a:t>
            </a:r>
            <a:endParaRPr lang="en-US" sz="1400" dirty="0"/>
          </a:p>
        </p:txBody>
      </p:sp>
      <p:sp>
        <p:nvSpPr>
          <p:cNvPr id="8" name="código"/>
          <p:cNvSpPr/>
          <p:nvPr/>
        </p:nvSpPr>
        <p:spPr>
          <a:xfrm>
            <a:off x="548640" y="3200400"/>
            <a:ext cx="6035040" cy="2743200"/>
          </a:xfrm>
          <a:prstGeom prst="roundRect">
            <a:avLst>
              <a:gd name="adj" fmla="val 2667"/>
            </a:avLst>
          </a:prstGeom>
          <a:solidFill>
            <a:srgbClr val="120B07"/>
          </a:solidFill>
          <a:ln w="9525">
            <a:solidFill>
              <a:srgbClr val="3A28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64992"/>
            <a:ext cx="557784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BD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Rotas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BD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val DETALHE_PRODUTO = "produto/{id}"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BD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val DETALHE_PEDIDO  = "pedido/{id}"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BD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8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card do cardápio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BD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navController.navigate("produto/${produto.id}")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8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 tela de detalhe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BD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produto = produtos.firstOrNull { it.id == id }</a:t>
            </a:r>
            <a:endParaRPr lang="en-US" sz="1150" dirty="0"/>
          </a:p>
        </p:txBody>
      </p:sp>
      <p:pic>
        <p:nvPicPr>
          <p:cNvPr id="10" name="cardápio escuro" descr="cardápio escu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83080"/>
            <a:ext cx="2002802" cy="42976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9098280" y="3429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2</a:t>
            </a:r>
            <a:endParaRPr lang="en-US" sz="1100" dirty="0"/>
          </a:p>
        </p:txBody>
      </p:sp>
      <p:sp>
        <p:nvSpPr>
          <p:cNvPr id="12" name="seta"/>
          <p:cNvSpPr/>
          <p:nvPr/>
        </p:nvSpPr>
        <p:spPr>
          <a:xfrm>
            <a:off x="9281160" y="3749040"/>
            <a:ext cx="365760" cy="256032"/>
          </a:xfrm>
          <a:prstGeom prst="rightArrow">
            <a:avLst/>
          </a:prstGeom>
          <a:solidFill>
            <a:schemeClr val="accent1"/>
          </a:solidFill>
          <a:ln/>
        </p:spPr>
      </p:sp>
      <p:pic>
        <p:nvPicPr>
          <p:cNvPr id="13" name="detalhe escuro" descr="detalhe escu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783080"/>
            <a:ext cx="2002802" cy="42976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12</a:t>
            </a:r>
            <a:endParaRPr lang="en-US" sz="950" dirty="0"/>
          </a:p>
        </p:txBody>
      </p:sp>
      <p:sp>
        <p:nvSpPr>
          <p:cNvPr id="3" name="selo Pergunta 2 de 3 · trava"/>
          <p:cNvSpPr/>
          <p:nvPr/>
        </p:nvSpPr>
        <p:spPr>
          <a:xfrm>
            <a:off x="9486900" y="274320"/>
            <a:ext cx="2153412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86900" y="274320"/>
            <a:ext cx="2153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2 DE 3 · TRAVA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TRAVA QUE MAIS CUSTOU</a:t>
            </a:r>
            <a:endParaRPr lang="en-US" sz="105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tela de detalhe abria em branco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Sem erro e sem crash: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só a barra "Detalhes" e nada embaixo. Perdemos uma tarde achando que era layout.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2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Causa: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sem declarar o tipo, o {id} chegava como texto, getInt("id") devolvia 0 e nenhum produto tem id 0.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2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Solução: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navArgument("id") { type = NavType.IntType }</a:t>
            </a:r>
            <a:endParaRPr lang="en-US" sz="1400" dirty="0"/>
          </a:p>
        </p:txBody>
      </p:sp>
      <p:sp>
        <p:nvSpPr>
          <p:cNvPr id="9" name="selo resolvido"/>
          <p:cNvSpPr/>
          <p:nvPr/>
        </p:nvSpPr>
        <p:spPr>
          <a:xfrm>
            <a:off x="548640" y="576072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5760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RESOLVIDO</a:t>
            </a:r>
            <a:endParaRPr lang="en-US" sz="950" dirty="0"/>
          </a:p>
        </p:txBody>
      </p:sp>
      <p:pic>
        <p:nvPicPr>
          <p:cNvPr id="3" name="vídeo antes e depois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029200" y="1874520"/>
            <a:ext cx="6675120" cy="375475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029200" y="5766435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VÍDEO: NÃO FUNCIONANDO → FUNCIONANDO (CLIQUE PARA TOCAR)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13</a:t>
            </a:r>
            <a:endParaRPr lang="en-US" sz="950" dirty="0"/>
          </a:p>
        </p:txBody>
      </p:sp>
      <p:sp>
        <p:nvSpPr>
          <p:cNvPr id="3" name="selo Pergunta 2 de 3 · trava"/>
          <p:cNvSpPr/>
          <p:nvPr/>
        </p:nvSpPr>
        <p:spPr>
          <a:xfrm>
            <a:off x="9486900" y="274320"/>
            <a:ext cx="2153412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86900" y="274320"/>
            <a:ext cx="2153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2 DE 3 · TRAVA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OUTRA TRAVA</a:t>
            </a:r>
            <a:endParaRPr lang="en-US" sz="105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No celular do colega, o app ficou verde</a:t>
            </a:r>
            <a:endParaRPr lang="en-US" sz="3000" dirty="0"/>
          </a:p>
        </p:txBody>
      </p:sp>
      <p:pic>
        <p:nvPicPr>
          <p:cNvPr id="7" name="roxo do template" descr="roxo do tem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1619287" cy="34747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365760" y="5440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ROXO DO TEMPLATE</a:t>
            </a:r>
            <a:endParaRPr lang="en-US" sz="950" dirty="0"/>
          </a:p>
        </p:txBody>
      </p:sp>
      <p:pic>
        <p:nvPicPr>
          <p:cNvPr id="9" name="verde do papel de parede" descr="verde do papel de pare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828800"/>
            <a:ext cx="1619287" cy="34747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0" name="Text 6"/>
          <p:cNvSpPr txBox="1"/>
          <p:nvPr/>
        </p:nvSpPr>
        <p:spPr>
          <a:xfrm>
            <a:off x="2148840" y="5440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9ED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VERDE DO PAPEL DE PAREDE</a:t>
            </a:r>
            <a:endParaRPr lang="en-US" sz="950" dirty="0"/>
          </a:p>
        </p:txBody>
      </p:sp>
      <p:pic>
        <p:nvPicPr>
          <p:cNvPr id="11" name="paleta café" descr="paleta caf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828800"/>
            <a:ext cx="1619287" cy="34747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2" name="Text 7"/>
          <p:cNvSpPr txBox="1"/>
          <p:nvPr/>
        </p:nvSpPr>
        <p:spPr>
          <a:xfrm>
            <a:off x="4343400" y="5440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PALETA CAFÉ</a:t>
            </a:r>
            <a:endParaRPr lang="en-US" sz="950" dirty="0"/>
          </a:p>
        </p:txBody>
      </p:sp>
      <p:pic>
        <p:nvPicPr>
          <p:cNvPr id="13" name="e no escuro" descr="e no escur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1619287" cy="34747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4" name="Text 8"/>
          <p:cNvSpPr txBox="1"/>
          <p:nvPr/>
        </p:nvSpPr>
        <p:spPr>
          <a:xfrm>
            <a:off x="6126480" y="5440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NO ESCURO</a:t>
            </a:r>
            <a:endParaRPr lang="en-US" sz="950" dirty="0"/>
          </a:p>
        </p:txBody>
      </p:sp>
      <p:sp>
        <p:nvSpPr>
          <p:cNvPr id="15" name="seta"/>
          <p:cNvSpPr/>
          <p:nvPr/>
        </p:nvSpPr>
        <p:spPr>
          <a:xfrm>
            <a:off x="4206240" y="3383280"/>
            <a:ext cx="347472" cy="24323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8412480" y="18745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Por quê: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 template do Android Studio vem com dynamicColor = true. No Android 12 ou mais novo, ele troca nossas cores pelas do papel de parede.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 que fizemos: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desligamos o dynamicColor de propósito e criamos a paleta Café, Leite, Caramelo e Creme para os dois temas.</a:t>
            </a:r>
            <a:endParaRPr lang="en-US" sz="1400" dirty="0"/>
          </a:p>
        </p:txBody>
      </p:sp>
      <p:sp>
        <p:nvSpPr>
          <p:cNvPr id="17" name="selo resolvido"/>
          <p:cNvSpPr/>
          <p:nvPr/>
        </p:nvSpPr>
        <p:spPr>
          <a:xfrm>
            <a:off x="8412480" y="512064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8412480" y="5120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RESOLVIDO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14</a:t>
            </a:r>
            <a:endParaRPr lang="en-US" sz="950" dirty="0"/>
          </a:p>
        </p:txBody>
      </p:sp>
      <p:sp>
        <p:nvSpPr>
          <p:cNvPr id="3" name="selo Pergunta 2 de 3 · trava"/>
          <p:cNvSpPr/>
          <p:nvPr/>
        </p:nvSpPr>
        <p:spPr>
          <a:xfrm>
            <a:off x="9486900" y="274320"/>
            <a:ext cx="2153412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86900" y="274320"/>
            <a:ext cx="2153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2 DE 3 · TRAVA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TODAS AS TRAVAS, RESOLVIDAS OU NÃO</a:t>
            </a:r>
            <a:endParaRPr lang="en-US" sz="105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quadro de travas do grupo</a:t>
            </a:r>
            <a:endParaRPr lang="en-US" sz="3000" dirty="0"/>
          </a:p>
        </p:txBody>
      </p:sp>
      <p:sp>
        <p:nvSpPr>
          <p:cNvPr id="7" name="trava Dropdown não compilava"/>
          <p:cNvSpPr/>
          <p:nvPr/>
        </p:nvSpPr>
        <p:spPr>
          <a:xfrm>
            <a:off x="54864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8" name="selo resolvido · T1"/>
          <p:cNvSpPr/>
          <p:nvPr/>
        </p:nvSpPr>
        <p:spPr>
          <a:xfrm>
            <a:off x="731520" y="2011680"/>
            <a:ext cx="160020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RESOLVIDO · T1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3957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 não compilava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971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Exemplo antigo da internet. Corrigido com menuAnchor(type = PrimaryNotEditable) e um componente reaproveitado.</a:t>
            </a:r>
            <a:endParaRPr lang="en-US" sz="1150" dirty="0"/>
          </a:p>
        </p:txBody>
      </p:sp>
      <p:sp>
        <p:nvSpPr>
          <p:cNvPr id="12" name="trava Voltar fechava o app"/>
          <p:cNvSpPr/>
          <p:nvPr/>
        </p:nvSpPr>
        <p:spPr>
          <a:xfrm>
            <a:off x="429768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3" name="selo resolvido · T2"/>
          <p:cNvSpPr/>
          <p:nvPr/>
        </p:nvSpPr>
        <p:spPr>
          <a:xfrm>
            <a:off x="4480560" y="2011680"/>
            <a:ext cx="160020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8056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RESOLVIDO · T2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3957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Voltar fechava o app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971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Sem pilha de telas no T1. No T2, NavHost e popBackStack() resolveram.</a:t>
            </a:r>
            <a:endParaRPr lang="en-US" sz="1150" dirty="0"/>
          </a:p>
        </p:txBody>
      </p:sp>
      <p:sp>
        <p:nvSpPr>
          <p:cNvPr id="17" name="trava Lista não atualizava"/>
          <p:cNvSpPr/>
          <p:nvPr/>
        </p:nvSpPr>
        <p:spPr>
          <a:xfrm>
            <a:off x="8046720" y="1828800"/>
            <a:ext cx="356616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8" name="selo resolvido · T2"/>
          <p:cNvSpPr/>
          <p:nvPr/>
        </p:nvSpPr>
        <p:spPr>
          <a:xfrm>
            <a:off x="8229600" y="2011680"/>
            <a:ext cx="160020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RESOLVIDO · T2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3957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não atualizava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971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O item entrava na lista mas a tela não mudava. Trocamos mutableListOf por mutableStateListOf.</a:t>
            </a:r>
            <a:endParaRPr lang="en-US" sz="1150" dirty="0"/>
          </a:p>
        </p:txBody>
      </p:sp>
      <p:sp>
        <p:nvSpPr>
          <p:cNvPr id="22" name="trava Barra de baixo no Login"/>
          <p:cNvSpPr/>
          <p:nvPr/>
        </p:nvSpPr>
        <p:spPr>
          <a:xfrm>
            <a:off x="548640" y="4069080"/>
            <a:ext cx="356616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3" name="selo resolvido · T2"/>
          <p:cNvSpPr/>
          <p:nvPr/>
        </p:nvSpPr>
        <p:spPr>
          <a:xfrm>
            <a:off x="731520" y="4251960"/>
            <a:ext cx="160020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RESOLVIDO · T2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6360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de baixo no Login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2120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Dava para pular o login. Escondemos com if (rotaAtual != Rotas.LOGIN).</a:t>
            </a:r>
            <a:endParaRPr lang="en-US" sz="1150" dirty="0"/>
          </a:p>
        </p:txBody>
      </p:sp>
      <p:sp>
        <p:nvSpPr>
          <p:cNvPr id="27" name="trava Girar a tela apaga o que foi digitado"/>
          <p:cNvSpPr/>
          <p:nvPr/>
        </p:nvSpPr>
        <p:spPr>
          <a:xfrm>
            <a:off x="4297680" y="4069080"/>
            <a:ext cx="356616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8" name="selo não resolvido"/>
          <p:cNvSpPr/>
          <p:nvPr/>
        </p:nvSpPr>
        <p:spPr>
          <a:xfrm>
            <a:off x="4480560" y="4251960"/>
            <a:ext cx="16002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8056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RESOLVIDO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46360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Girar a tela apaga o que foi digitado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52120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remember é recriado ao girar. Seria rememberSaveable ou ViewModel.</a:t>
            </a:r>
            <a:endParaRPr lang="en-US" sz="1150" dirty="0"/>
          </a:p>
        </p:txBody>
      </p:sp>
      <p:sp>
        <p:nvSpPr>
          <p:cNvPr id="32" name="trava Dados somem ao fechar o app"/>
          <p:cNvSpPr/>
          <p:nvPr/>
        </p:nvSpPr>
        <p:spPr>
          <a:xfrm>
            <a:off x="8046720" y="4069080"/>
            <a:ext cx="356616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33" name="selo não resolvido"/>
          <p:cNvSpPr/>
          <p:nvPr/>
        </p:nvSpPr>
        <p:spPr>
          <a:xfrm>
            <a:off x="8229600" y="4251960"/>
            <a:ext cx="16002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RESOLVIDO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46360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somem ao fechar o app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52120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Tudo fica em memória. Próximo passo seria Room. Preço inválido também vira R$ 0,00.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15</a:t>
            </a:r>
            <a:endParaRPr lang="en-US" sz="950" dirty="0"/>
          </a:p>
        </p:txBody>
      </p:sp>
      <p:sp>
        <p:nvSpPr>
          <p:cNvPr id="3" name="selo Pergunta 3 de 3 · mockup × real"/>
          <p:cNvSpPr/>
          <p:nvPr/>
        </p:nvSpPr>
        <p:spPr>
          <a:xfrm>
            <a:off x="8865108" y="274320"/>
            <a:ext cx="2775204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65108" y="274320"/>
            <a:ext cx="2775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3 DE 3 · MOCKUP × REAL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MUDOU DO MOCKUP PARA A TELA REAL?</a:t>
            </a:r>
            <a:endParaRPr lang="en-US" sz="105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 cardápio passou por cinco formas</a:t>
            </a:r>
            <a:endParaRPr lang="en-US" sz="3000" dirty="0"/>
          </a:p>
        </p:txBody>
      </p:sp>
      <p:sp>
        <p:nvSpPr>
          <p:cNvPr id="7" name="moldura Folha 1"/>
          <p:cNvSpPr/>
          <p:nvPr/>
        </p:nvSpPr>
        <p:spPr>
          <a:xfrm rot="-120000">
            <a:off x="475488" y="1709928"/>
            <a:ext cx="2283057" cy="284378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esboço Folha 1" descr="Esboço real: Folh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20000">
            <a:off x="548640" y="1783080"/>
            <a:ext cx="2136753" cy="269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" y="4617720"/>
            <a:ext cx="25025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 1</a:t>
            </a:r>
            <a:endParaRPr lang="en-US" sz="950" dirty="0"/>
          </a:p>
        </p:txBody>
      </p:sp>
      <p:sp>
        <p:nvSpPr>
          <p:cNvPr id="10" name="seta"/>
          <p:cNvSpPr/>
          <p:nvPr/>
        </p:nvSpPr>
        <p:spPr>
          <a:xfrm>
            <a:off x="2822553" y="3017520"/>
            <a:ext cx="292608" cy="204826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moldura Folha 2"/>
          <p:cNvSpPr/>
          <p:nvPr/>
        </p:nvSpPr>
        <p:spPr>
          <a:xfrm rot="90000">
            <a:off x="3179169" y="1709928"/>
            <a:ext cx="2085118" cy="284378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2" name="esboço Folha 2" descr="Esboço real: Folh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">
            <a:off x="3252321" y="1783080"/>
            <a:ext cx="1938814" cy="2697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69441" y="4617720"/>
            <a:ext cx="2304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 2</a:t>
            </a:r>
            <a:endParaRPr lang="en-US" sz="950" dirty="0"/>
          </a:p>
        </p:txBody>
      </p:sp>
      <p:sp>
        <p:nvSpPr>
          <p:cNvPr id="14" name="seta"/>
          <p:cNvSpPr/>
          <p:nvPr/>
        </p:nvSpPr>
        <p:spPr>
          <a:xfrm>
            <a:off x="5328294" y="3017520"/>
            <a:ext cx="292608" cy="204826"/>
          </a:xfrm>
          <a:prstGeom prst="rightArrow">
            <a:avLst/>
          </a:prstGeom>
          <a:solidFill>
            <a:schemeClr val="accent1"/>
          </a:solidFill>
          <a:ln/>
        </p:spPr>
      </p:sp>
      <p:pic>
        <p:nvPicPr>
          <p:cNvPr id="15" name="Trabalho 1" descr="Trabalho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062" y="1783080"/>
            <a:ext cx="1257078" cy="2697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6" name="Text 11"/>
          <p:cNvSpPr txBox="1"/>
          <p:nvPr/>
        </p:nvSpPr>
        <p:spPr>
          <a:xfrm>
            <a:off x="5575182" y="4617720"/>
            <a:ext cx="16228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1</a:t>
            </a:r>
            <a:endParaRPr lang="en-US" sz="950" dirty="0"/>
          </a:p>
        </p:txBody>
      </p:sp>
      <p:sp>
        <p:nvSpPr>
          <p:cNvPr id="17" name="seta"/>
          <p:cNvSpPr/>
          <p:nvPr/>
        </p:nvSpPr>
        <p:spPr>
          <a:xfrm>
            <a:off x="7152300" y="3017520"/>
            <a:ext cx="292608" cy="204826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moldura Folha 3"/>
          <p:cNvSpPr/>
          <p:nvPr/>
        </p:nvSpPr>
        <p:spPr>
          <a:xfrm rot="-90000">
            <a:off x="7508916" y="1709928"/>
            <a:ext cx="2418422" cy="284378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9" name="esboço Folha 3" descr="Esboço real: Folha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90000">
            <a:off x="7582068" y="1783080"/>
            <a:ext cx="2272118" cy="2697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399188" y="4617720"/>
            <a:ext cx="2637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 3</a:t>
            </a:r>
            <a:endParaRPr lang="en-US" sz="950" dirty="0"/>
          </a:p>
        </p:txBody>
      </p:sp>
      <p:sp>
        <p:nvSpPr>
          <p:cNvPr id="21" name="seta"/>
          <p:cNvSpPr/>
          <p:nvPr/>
        </p:nvSpPr>
        <p:spPr>
          <a:xfrm>
            <a:off x="9991347" y="3017520"/>
            <a:ext cx="292608" cy="204826"/>
          </a:xfrm>
          <a:prstGeom prst="rightArrow">
            <a:avLst/>
          </a:prstGeom>
          <a:solidFill>
            <a:schemeClr val="accent1"/>
          </a:solidFill>
          <a:ln/>
        </p:spPr>
      </p:sp>
      <p:pic>
        <p:nvPicPr>
          <p:cNvPr id="22" name="Trabalho 2" descr="Trabalho 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1115" y="1783080"/>
            <a:ext cx="1257078" cy="26974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23" name="Text 16"/>
          <p:cNvSpPr txBox="1"/>
          <p:nvPr/>
        </p:nvSpPr>
        <p:spPr>
          <a:xfrm>
            <a:off x="10238235" y="4617720"/>
            <a:ext cx="16228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2</a:t>
            </a:r>
            <a:endParaRPr lang="en-US" sz="95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Do papel ao app: lista com imagem → saudação e botão Escolher → (T1 igual ao esboço) → formulário e grade → emoji no lugar da foto, categoria e botão de remover.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16</a:t>
            </a:r>
            <a:endParaRPr lang="en-US" sz="950" dirty="0"/>
          </a:p>
        </p:txBody>
      </p:sp>
      <p:sp>
        <p:nvSpPr>
          <p:cNvPr id="3" name="selo Pergunta 3 de 3 · mockup × real"/>
          <p:cNvSpPr/>
          <p:nvPr/>
        </p:nvSpPr>
        <p:spPr>
          <a:xfrm>
            <a:off x="8865108" y="274320"/>
            <a:ext cx="2775204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65108" y="274320"/>
            <a:ext cx="2775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3 DE 3 · MOCKUP × REAL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MOCKUP × TELA REAL</a:t>
            </a:r>
            <a:endParaRPr lang="en-US" sz="105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detalhe mudou de função</a:t>
            </a:r>
            <a:endParaRPr lang="en-US" sz="3000" dirty="0"/>
          </a:p>
        </p:txBody>
      </p:sp>
      <p:sp>
        <p:nvSpPr>
          <p:cNvPr id="7" name="moldura Folha 1"/>
          <p:cNvSpPr/>
          <p:nvPr/>
        </p:nvSpPr>
        <p:spPr>
          <a:xfrm rot="-90000">
            <a:off x="1747499" y="1709928"/>
            <a:ext cx="2103830" cy="2889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esboço Folha 1" descr="Esboço real: Folh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90000">
            <a:off x="1820651" y="1783080"/>
            <a:ext cx="1957526" cy="2743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37771" y="4663440"/>
            <a:ext cx="23232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 1</a:t>
            </a:r>
            <a:endParaRPr lang="en-US" sz="950" dirty="0"/>
          </a:p>
        </p:txBody>
      </p:sp>
      <p:sp>
        <p:nvSpPr>
          <p:cNvPr id="10" name="seta"/>
          <p:cNvSpPr/>
          <p:nvPr/>
        </p:nvSpPr>
        <p:spPr>
          <a:xfrm>
            <a:off x="3906193" y="3017520"/>
            <a:ext cx="292608" cy="204826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moldura Folha 2"/>
          <p:cNvSpPr/>
          <p:nvPr/>
        </p:nvSpPr>
        <p:spPr>
          <a:xfrm rot="90000">
            <a:off x="4253665" y="1709928"/>
            <a:ext cx="2536483" cy="2889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2" name="esboço Folha 2" descr="Esboço real: Folh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">
            <a:off x="4326817" y="1783080"/>
            <a:ext cx="2390179" cy="2743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43937" y="4663440"/>
            <a:ext cx="27559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 2</a:t>
            </a:r>
            <a:endParaRPr lang="en-US" sz="950" dirty="0"/>
          </a:p>
        </p:txBody>
      </p:sp>
      <p:sp>
        <p:nvSpPr>
          <p:cNvPr id="14" name="seta"/>
          <p:cNvSpPr/>
          <p:nvPr/>
        </p:nvSpPr>
        <p:spPr>
          <a:xfrm>
            <a:off x="6845012" y="3017520"/>
            <a:ext cx="292608" cy="204826"/>
          </a:xfrm>
          <a:prstGeom prst="rightArrow">
            <a:avLst/>
          </a:prstGeom>
          <a:solidFill>
            <a:schemeClr val="accent1"/>
          </a:solidFill>
          <a:ln/>
        </p:spPr>
      </p:sp>
      <p:pic>
        <p:nvPicPr>
          <p:cNvPr id="15" name="Trabalho 1" descr="Trabalho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636" y="1783080"/>
            <a:ext cx="1278384" cy="27432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6" name="Text 11"/>
          <p:cNvSpPr txBox="1"/>
          <p:nvPr/>
        </p:nvSpPr>
        <p:spPr>
          <a:xfrm>
            <a:off x="7082756" y="4663440"/>
            <a:ext cx="164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1</a:t>
            </a:r>
            <a:endParaRPr lang="en-US" sz="950" dirty="0"/>
          </a:p>
        </p:txBody>
      </p:sp>
      <p:sp>
        <p:nvSpPr>
          <p:cNvPr id="17" name="seta"/>
          <p:cNvSpPr/>
          <p:nvPr/>
        </p:nvSpPr>
        <p:spPr>
          <a:xfrm>
            <a:off x="8672036" y="3017520"/>
            <a:ext cx="292608" cy="204826"/>
          </a:xfrm>
          <a:prstGeom prst="rightArrow">
            <a:avLst/>
          </a:prstGeom>
          <a:solidFill>
            <a:schemeClr val="accent1"/>
          </a:solidFill>
          <a:ln/>
        </p:spPr>
      </p:sp>
      <p:pic>
        <p:nvPicPr>
          <p:cNvPr id="18" name="Trabalho 2" descr="Trabalho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660" y="1783080"/>
            <a:ext cx="1278384" cy="27432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9" name="Text 13"/>
          <p:cNvSpPr txBox="1"/>
          <p:nvPr/>
        </p:nvSpPr>
        <p:spPr>
          <a:xfrm>
            <a:off x="8909780" y="4663440"/>
            <a:ext cx="164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2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507492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Folha 1: tamanho, leite e açúcar. Foi assim para o Trabalho 1.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Folha 2: testamos um campo de entrega. Não entrou, o pedido é retirado no balcão.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Trabalho 2: a personalização saiu. O detalhe passou a mostrar categoria, quantas vezes o item foi vendido e quanto faturou.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17</a:t>
            </a:r>
            <a:endParaRPr lang="en-US" sz="950" dirty="0"/>
          </a:p>
        </p:txBody>
      </p:sp>
      <p:sp>
        <p:nvSpPr>
          <p:cNvPr id="3" name="selo Pergunta 3 de 3 · mockup × real"/>
          <p:cNvSpPr/>
          <p:nvPr/>
        </p:nvSpPr>
        <p:spPr>
          <a:xfrm>
            <a:off x="8865108" y="274320"/>
            <a:ext cx="2775204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65108" y="274320"/>
            <a:ext cx="2775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3 DE 3 · MOCKUP × REAL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MOCKUP × TELA REAL</a:t>
            </a:r>
            <a:endParaRPr lang="en-US" sz="105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Resumo e Confirmação: quase iguais ao papel</a:t>
            </a:r>
            <a:endParaRPr lang="en-US" sz="3000" dirty="0"/>
          </a:p>
        </p:txBody>
      </p:sp>
      <p:sp>
        <p:nvSpPr>
          <p:cNvPr id="7" name="moldura Resumo do dia esboço"/>
          <p:cNvSpPr/>
          <p:nvPr/>
        </p:nvSpPr>
        <p:spPr>
          <a:xfrm rot="-90000">
            <a:off x="475488" y="1709928"/>
            <a:ext cx="2912160" cy="334670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esboço Resumo do dia esboço" descr="Esboço real: Resumo do dia esboç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90000">
            <a:off x="548640" y="1783080"/>
            <a:ext cx="2765856" cy="3200400"/>
          </a:xfrm>
          <a:prstGeom prst="rect">
            <a:avLst/>
          </a:prstGeom>
        </p:spPr>
      </p:pic>
      <p:sp>
        <p:nvSpPr>
          <p:cNvPr id="9" name="seta"/>
          <p:cNvSpPr/>
          <p:nvPr/>
        </p:nvSpPr>
        <p:spPr>
          <a:xfrm>
            <a:off x="3451656" y="3200400"/>
            <a:ext cx="292608" cy="204826"/>
          </a:xfrm>
          <a:prstGeom prst="rightArrow">
            <a:avLst/>
          </a:prstGeom>
          <a:solidFill>
            <a:schemeClr val="accent1"/>
          </a:solidFill>
          <a:ln/>
        </p:spPr>
      </p:sp>
      <p:pic>
        <p:nvPicPr>
          <p:cNvPr id="10" name="Resumo do dia app" descr="Resumo do dia ap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856" y="1783080"/>
            <a:ext cx="1491449" cy="32004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1" name="Text 7"/>
          <p:cNvSpPr txBox="1"/>
          <p:nvPr/>
        </p:nvSpPr>
        <p:spPr>
          <a:xfrm>
            <a:off x="548640" y="5212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 dia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55955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Pedidos, entregues e mais vendido vieram do esboço. O faturamento entrou só no código.</a:t>
            </a:r>
            <a:endParaRPr lang="en-US" sz="1250" dirty="0"/>
          </a:p>
        </p:txBody>
      </p:sp>
      <p:sp>
        <p:nvSpPr>
          <p:cNvPr id="13" name="moldura Confirmação esboço"/>
          <p:cNvSpPr/>
          <p:nvPr/>
        </p:nvSpPr>
        <p:spPr>
          <a:xfrm rot="90000">
            <a:off x="6236208" y="1709928"/>
            <a:ext cx="2405944" cy="3346704"/>
          </a:xfrm>
          <a:prstGeom prst="rect">
            <a:avLst/>
          </a:prstGeom>
          <a:solidFill>
            <a:srgbClr val="FFFFFF"/>
          </a:solidFill>
          <a:ln w="6350">
            <a:solidFill>
              <a:srgbClr val="D9CBB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esboço Confirmação esboço" descr="Esboço real: Confirmação esboç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0">
            <a:off x="6309360" y="1783080"/>
            <a:ext cx="2259640" cy="3200400"/>
          </a:xfrm>
          <a:prstGeom prst="rect">
            <a:avLst/>
          </a:prstGeom>
        </p:spPr>
      </p:pic>
      <p:sp>
        <p:nvSpPr>
          <p:cNvPr id="15" name="seta"/>
          <p:cNvSpPr/>
          <p:nvPr/>
        </p:nvSpPr>
        <p:spPr>
          <a:xfrm>
            <a:off x="8706160" y="3200400"/>
            <a:ext cx="292608" cy="204826"/>
          </a:xfrm>
          <a:prstGeom prst="rightArrow">
            <a:avLst/>
          </a:prstGeom>
          <a:solidFill>
            <a:schemeClr val="accent1"/>
          </a:solidFill>
          <a:ln/>
        </p:spPr>
      </p:sp>
      <p:pic>
        <p:nvPicPr>
          <p:cNvPr id="16" name="Confirmação app" descr="Confirmação ap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3360" y="1783080"/>
            <a:ext cx="1491449" cy="32004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7" name="Text 11"/>
          <p:cNvSpPr txBox="1"/>
          <p:nvPr/>
        </p:nvSpPr>
        <p:spPr>
          <a:xfrm>
            <a:off x="6309360" y="5212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Confirmação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309360" y="555955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O número do pedido ficou. O círculo com o check saiu; entraram cliente e total.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18</a:t>
            </a:r>
            <a:endParaRPr lang="en-US" sz="950" dirty="0"/>
          </a:p>
        </p:txBody>
      </p:sp>
      <p:sp>
        <p:nvSpPr>
          <p:cNvPr id="3" name="selo Pergunta 3 de 3 · mockup × real"/>
          <p:cNvSpPr/>
          <p:nvPr/>
        </p:nvSpPr>
        <p:spPr>
          <a:xfrm>
            <a:off x="8865108" y="274320"/>
            <a:ext cx="2775204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65108" y="274320"/>
            <a:ext cx="2775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3 DE 3 · MOCKUP × REAL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RESUMO DAS MUDANÇAS</a:t>
            </a:r>
            <a:endParaRPr lang="en-US" sz="105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 papel ao código, linha por linha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2834640"/>
                <a:gridCol w="33832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A56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Esboços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A56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Trabalho 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4E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Trabalho 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3B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17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A5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o nome + Avançar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com 3+ letras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+ botão Sair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3B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17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Cardápio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A5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imagem → Olá, Bruno + Escolher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fixa + Escolher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+ grade com emoji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3B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17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Detalhe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A5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tamanho, leite, açúcar, entrega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listas suspensas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vendas e faturamento do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3B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17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Usuário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A5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(riscado)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tinha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Pedidos + Resumo do 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3B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17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Confirmação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A5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do pedido +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+ cliente +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+ cliente +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3B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17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Navegação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A5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setas no papel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 + 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NavHost, rotas com id, barra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3B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17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A5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roxo do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1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paleta café, claro e escuro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3B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 19</a:t>
            </a:r>
            <a:endParaRPr lang="en-US" sz="950" dirty="0"/>
          </a:p>
        </p:txBody>
      </p:sp>
      <p:sp>
        <p:nvSpPr>
          <p:cNvPr id="3" name="etapa Esboço"/>
          <p:cNvSpPr/>
          <p:nvPr/>
        </p:nvSpPr>
        <p:spPr>
          <a:xfrm>
            <a:off x="2011680" y="274320"/>
            <a:ext cx="832104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0" y="274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ESBOÇO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935224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→</a:t>
            </a:r>
            <a:endParaRPr lang="en-US" sz="1000" dirty="0"/>
          </a:p>
        </p:txBody>
      </p:sp>
      <p:sp>
        <p:nvSpPr>
          <p:cNvPr id="6" name="etapa Trabalho 1"/>
          <p:cNvSpPr/>
          <p:nvPr/>
        </p:nvSpPr>
        <p:spPr>
          <a:xfrm>
            <a:off x="3191256" y="274320"/>
            <a:ext cx="1143000" cy="274320"/>
          </a:xfrm>
          <a:prstGeom prst="roundRect">
            <a:avLst>
              <a:gd name="adj" fmla="val 50000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91256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425696" y="274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selo Trabalho 2"/>
          <p:cNvSpPr/>
          <p:nvPr/>
        </p:nvSpPr>
        <p:spPr>
          <a:xfrm>
            <a:off x="4681728" y="274320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1728" y="274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 PRONTO</a:t>
            </a:r>
            <a:endParaRPr lang="en-US" sz="105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 que levamos do caminho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1965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Desenhar antes poupou código: o Perfil foi riscado no papel, não no Android Studio.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718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Quando algo não aparece na tela, imprima o valor antes de mexer no layout.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31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9776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Mudar o plano no meio custa, mas um app que faz sentido vale mais que um que segue o rascunho.</a:t>
            </a:r>
            <a:endParaRPr lang="en-US" sz="1500" dirty="0"/>
          </a:p>
        </p:txBody>
      </p:sp>
      <p:pic>
        <p:nvPicPr>
          <p:cNvPr id="3" name="vídeo do app funcionand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577840" y="1874520"/>
            <a:ext cx="6035040" cy="339471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577840" y="540639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VÍDEO: O APP FUNCIONANDO, DO LOGIN AO RESUMO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fePositivo">
  <a:themeElements>
    <a:clrScheme name="CafePositivo">
      <a:dk1>
        <a:srgbClr val="1C120C"/>
      </a:dk1>
      <a:lt1>
        <a:srgbClr val="F4EBDD"/>
      </a:lt1>
      <a:dk2>
        <a:srgbClr val="23170F"/>
      </a:dk2>
      <a:lt2>
        <a:srgbClr val="E9DCC8"/>
      </a:lt2>
      <a:accent1>
        <a:srgbClr val="C98B55"/>
      </a:accent1>
      <a:accent2>
        <a:srgbClr val="6F4E37"/>
      </a:accent2>
      <a:accent3>
        <a:srgbClr val="B5432F"/>
      </a:accent3>
      <a:accent4>
        <a:srgbClr val="3F7D52"/>
      </a:accent4>
      <a:accent5>
        <a:srgbClr val="E7C9A5"/>
      </a:accent5>
      <a:accent6>
        <a:srgbClr val="6A5646"/>
      </a:accent6>
      <a:hlink>
        <a:srgbClr val="6F4E37"/>
      </a:hlink>
      <a:folHlink>
        <a:srgbClr val="C98B55"/>
      </a:folHlink>
    </a:clrScheme>
    <a:fontScheme name="CafePositiv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Diário do CaféPositivo</dc:title>
  <dc:subject>PptxGenJS Presentation</dc:subject>
  <dc:creator>Grupo CaféPositivo</dc:creator>
  <cp:lastModifiedBy>Grupo CaféPositivo</cp:lastModifiedBy>
  <cp:revision>1</cp:revision>
  <dcterms:created xsi:type="dcterms:W3CDTF">2026-10-06T23:34:48Z</dcterms:created>
  <dcterms:modified xsi:type="dcterms:W3CDTF">2026-10-06T23:34:48Z</dcterms:modified>
</cp:coreProperties>
</file>